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10000" cy="6858000"/>
          </a:xfrm>
          <a:prstGeom prst="rect">
            <a:avLst/>
          </a:prstGeom>
          <a:solidFill>
            <a:srgbClr val="F5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0" y="0"/>
            <a:ext cx="101600" cy="6858000"/>
          </a:xfrm>
          <a:prstGeom prst="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8000" y="762000"/>
            <a:ext cx="2921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284B"/>
                </a:solidFill>
                <a:latin typeface="Arial"/>
              </a:rPr>
              <a:t>Demo Regio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5969000"/>
            <a:ext cx="2921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284B"/>
                </a:solidFill>
                <a:latin typeface="Arial"/>
              </a:rPr>
              <a:t>Voorbeeld — gemaakt met tools/preview_pptx.py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413000"/>
            <a:ext cx="7112000" cy="139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800" b="1">
                <a:solidFill>
                  <a:srgbClr val="14284B"/>
                </a:solidFill>
                <a:latin typeface="Arial"/>
              </a:rPr>
              <a:t>Prognoserapportage Demo Regio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97400" y="3860800"/>
            <a:ext cx="1143000" cy="76200"/>
          </a:xfrm>
          <a:prstGeom prst="rect">
            <a:avLst/>
          </a:prstGeom>
          <a:solidFill>
            <a:srgbClr val="F5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4114800"/>
            <a:ext cx="7112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14284B"/>
                </a:solidFill>
                <a:latin typeface="Arial"/>
              </a:rPr>
              <a:t>Q3 2026  ·  doeljaar 2026  ·  peildatum 30-09-2026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521200"/>
            <a:ext cx="711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385"/>
                </a:solidFill>
                <a:latin typeface="Arial"/>
              </a:rPr>
              <a:t>Bron: RDFO_prototype.xlsm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1000"/>
            <a:ext cx="76200" cy="381000"/>
          </a:xfrm>
          <a:prstGeom prst="rect">
            <a:avLst/>
          </a:prstGeom>
          <a:solidFill>
            <a:srgbClr val="F5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0400" y="355600"/>
            <a:ext cx="10922000" cy="43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284B"/>
                </a:solidFill>
                <a:latin typeface="Arial"/>
              </a:rPr>
              <a:t>Kerncijfers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" y="8128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385"/>
                </a:solidFill>
                <a:latin typeface="Arial"/>
              </a:rPr>
              <a:t>Omzet FY 2026: € 114.1 mln, -4.4 mln t.o.v. budget  ·  BOR 9.2%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9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553200"/>
            <a:ext cx="889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385"/>
                </a:solidFill>
                <a:latin typeface="Arial"/>
              </a:rPr>
              <a:t>Demo Regio  ·  Q3 2026  ·  peildatum 30-09-2026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0" y="6553200"/>
            <a:ext cx="5588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4284B"/>
                </a:solidFill>
                <a:latin typeface="Arial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19200"/>
            <a:ext cx="1794933" cy="9398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19200"/>
            <a:ext cx="1794933" cy="38100"/>
          </a:xfrm>
          <a:prstGeom prst="rect">
            <a:avLst/>
          </a:prstGeom>
          <a:solidFill>
            <a:srgbClr val="F5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3400" y="1320800"/>
            <a:ext cx="1642533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1">
                <a:solidFill>
                  <a:srgbClr val="14284B"/>
                </a:solidFill>
                <a:latin typeface="Arial"/>
              </a:rPr>
              <a:t>Omzet FY 2026 · Q3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1524000"/>
            <a:ext cx="1642533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14284B"/>
                </a:solidFill>
                <a:latin typeface="Arial"/>
              </a:rPr>
              <a:t>114,1 mln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1930400"/>
            <a:ext cx="1642533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385"/>
                </a:solidFill>
                <a:latin typeface="Arial"/>
              </a:rPr>
              <a:t>Δ budget: -4.4 mln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53733" y="1219200"/>
            <a:ext cx="1794933" cy="9398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53733" y="1219200"/>
            <a:ext cx="1794933" cy="38100"/>
          </a:xfrm>
          <a:prstGeom prst="rect">
            <a:avLst/>
          </a:prstGeom>
          <a:solidFill>
            <a:srgbClr val="F5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9933" y="1320800"/>
            <a:ext cx="1642533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1">
                <a:solidFill>
                  <a:srgbClr val="14284B"/>
                </a:solidFill>
                <a:latin typeface="Arial"/>
              </a:rPr>
              <a:t>BOR FY 2026 · 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9933" y="1524000"/>
            <a:ext cx="1642533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14284B"/>
                </a:solidFill>
                <a:latin typeface="Arial"/>
              </a:rPr>
              <a:t>10,5 mln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9933" y="1930400"/>
            <a:ext cx="1642533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385"/>
                </a:solidFill>
                <a:latin typeface="Arial"/>
              </a:rPr>
              <a:t>BOR %: 9.2%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0266" y="1219200"/>
            <a:ext cx="1794933" cy="9398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50266" y="1219200"/>
            <a:ext cx="1794933" cy="38100"/>
          </a:xfrm>
          <a:prstGeom prst="rect">
            <a:avLst/>
          </a:prstGeom>
          <a:solidFill>
            <a:srgbClr val="F5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6466" y="1320800"/>
            <a:ext cx="1642533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1">
                <a:solidFill>
                  <a:srgbClr val="14284B"/>
                </a:solidFill>
                <a:latin typeface="Arial"/>
              </a:rPr>
              <a:t>Realisatie YTD (zelfde peildatum)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6466" y="1524000"/>
            <a:ext cx="1642533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14284B"/>
                </a:solidFill>
                <a:latin typeface="Arial"/>
              </a:rPr>
              <a:t>74,2 mln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6466" y="1930400"/>
            <a:ext cx="1642533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385"/>
                </a:solidFill>
                <a:latin typeface="Arial"/>
              </a:rPr>
              <a:t>65% van FY-prognose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6800" y="1219200"/>
            <a:ext cx="1794933" cy="9398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6800" y="1219200"/>
            <a:ext cx="1794933" cy="38100"/>
          </a:xfrm>
          <a:prstGeom prst="rect">
            <a:avLst/>
          </a:prstGeom>
          <a:solidFill>
            <a:srgbClr val="F5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23000" y="1320800"/>
            <a:ext cx="1642533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1">
                <a:solidFill>
                  <a:srgbClr val="14284B"/>
                </a:solidFill>
                <a:latin typeface="Arial"/>
              </a:rPr>
              <a:t>Omzet to go (FY − realisatie)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23000" y="1524000"/>
            <a:ext cx="1642533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14284B"/>
                </a:solidFill>
                <a:latin typeface="Arial"/>
              </a:rPr>
              <a:t>39,9 mln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23000" y="1930400"/>
            <a:ext cx="1642533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385"/>
                </a:solidFill>
                <a:latin typeface="Arial"/>
              </a:rPr>
              <a:t>BOR to go: 3.7 mln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3333" y="1219200"/>
            <a:ext cx="1794933" cy="9398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43333" y="1219200"/>
            <a:ext cx="1794933" cy="38100"/>
          </a:xfrm>
          <a:prstGeom prst="rect">
            <a:avLst/>
          </a:prstGeom>
          <a:solidFill>
            <a:srgbClr val="F5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533" y="1320800"/>
            <a:ext cx="1642533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1">
                <a:solidFill>
                  <a:srgbClr val="14284B"/>
                </a:solidFill>
                <a:latin typeface="Arial"/>
              </a:rPr>
              <a:t>Woningverkopen 2026 · Q3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19533" y="1524000"/>
            <a:ext cx="1642533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14284B"/>
                </a:solidFill>
                <a:latin typeface="Arial"/>
              </a:rPr>
              <a:t>360 st.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533" y="1930400"/>
            <a:ext cx="1642533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385"/>
                </a:solidFill>
                <a:latin typeface="Arial"/>
              </a:rPr>
              <a:t>actual YTD: 193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39866" y="1219200"/>
            <a:ext cx="1794933" cy="9398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939866" y="1219200"/>
            <a:ext cx="1794933" cy="38100"/>
          </a:xfrm>
          <a:prstGeom prst="rect">
            <a:avLst/>
          </a:prstGeom>
          <a:solidFill>
            <a:srgbClr val="F5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16066" y="1320800"/>
            <a:ext cx="1642533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1">
                <a:solidFill>
                  <a:srgbClr val="14284B"/>
                </a:solidFill>
                <a:latin typeface="Arial"/>
              </a:rPr>
              <a:t>Orderintake 2026 t/m peildatum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16066" y="1524000"/>
            <a:ext cx="1642533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14284B"/>
                </a:solidFill>
                <a:latin typeface="Arial"/>
              </a:rPr>
              <a:t>337,7 mln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16066" y="1930400"/>
            <a:ext cx="1642533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385"/>
                </a:solidFill>
                <a:latin typeface="Arial"/>
              </a:rPr>
              <a:t>15 projecten (PEW-omzet)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2286000"/>
            <a:ext cx="55372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284B"/>
                </a:solidFill>
                <a:latin typeface="Arial"/>
              </a:rPr>
              <a:t>Prognoseverloop omzet FY 2026: budget → per versie → FC Q3</a:t>
            </a:r>
            <a:br/>
            <a:r>
              <a:t>114.1 (EUR mln)</a:t>
            </a:r>
          </a:p>
        </p:txBody>
      </p:sp>
      <p:pic>
        <p:nvPicPr>
          <p:cNvPr id="40" name="Picture 39" descr="p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40000"/>
            <a:ext cx="5537200" cy="3405675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197600" y="2286000"/>
            <a:ext cx="55372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284B"/>
                </a:solidFill>
                <a:latin typeface="Arial"/>
              </a:rPr>
              <a:t>Outlook omzet per jaar: realisatie massief, prognose gearceerd, budget = streep (EUR mln)</a:t>
            </a:r>
          </a:p>
        </p:txBody>
      </p:sp>
      <p:pic>
        <p:nvPicPr>
          <p:cNvPr id="42" name="Picture 41" descr="p-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7600" y="2540000"/>
            <a:ext cx="5537200" cy="36974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1000"/>
            <a:ext cx="76200" cy="381000"/>
          </a:xfrm>
          <a:prstGeom prst="rect">
            <a:avLst/>
          </a:prstGeom>
          <a:solidFill>
            <a:srgbClr val="F5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0400" y="355600"/>
            <a:ext cx="10922000" cy="43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284B"/>
                </a:solidFill>
                <a:latin typeface="Arial"/>
              </a:rPr>
              <a:t>Omzet en resultaat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" y="8128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385"/>
                </a:solidFill>
                <a:latin typeface="Arial"/>
              </a:rPr>
              <a:t>Bedragen in EUR x 1.000  ·  massief = vastgelegd/realisatie, balkjes = afwijking t.o.v. budget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9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553200"/>
            <a:ext cx="889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385"/>
                </a:solidFill>
                <a:latin typeface="Arial"/>
              </a:rPr>
              <a:t>Demo Regio  ·  Q3 2026  ·  peildatum 30-09-2026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0" y="6553200"/>
            <a:ext cx="5588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4284B"/>
                </a:solidFill>
                <a:latin typeface="Arial"/>
              </a:rPr>
              <a:t>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19200"/>
          <a:ext cx="11277597" cy="3200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41510"/>
                <a:gridCol w="700472"/>
                <a:gridCol w="700472"/>
                <a:gridCol w="700472"/>
                <a:gridCol w="700472"/>
                <a:gridCol w="700472"/>
                <a:gridCol w="770519"/>
                <a:gridCol w="770519"/>
                <a:gridCol w="770519"/>
                <a:gridCol w="700472"/>
                <a:gridCol w="700472"/>
                <a:gridCol w="700472"/>
                <a:gridCol w="560377"/>
                <a:gridCol w="560377"/>
              </a:tblGrid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Rubriek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Budget FY 2026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Q1 2026 FY-prognose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Q2 2026 FY-prognose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Q3 2026 FY-prognose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Q4 2026 FY-prognose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Upload 30-09-2026 concept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Geselecteerd Q3 FY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Realisatie YTD zelfde peildatum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To go (FY − YTD)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Δ geselect. vs Budget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Δ geselect. vs Q2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Δ vs budget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Omzet opstal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113.431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111.433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106.938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108.437</a:t>
                      </a:r>
                    </a:p>
                  </a:txBody>
                  <a:tcPr marL="38100" marR="38100" marT="12700" marB="127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108.437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108.437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3B5B33"/>
                          </a:solidFill>
                          <a:latin typeface="Arial"/>
                        </a:rPr>
                        <a:t>70.484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37.953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C0392B"/>
                          </a:solidFill>
                          <a:latin typeface="Arial"/>
                        </a:rPr>
                        <a:t>-4.995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3B7A1E"/>
                          </a:solidFill>
                          <a:latin typeface="Arial"/>
                        </a:rPr>
                        <a:t>1.498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D7372F"/>
                          </a:solidFill>
                          <a:latin typeface="Arial"/>
                        </a:rPr>
                        <a:t>█████████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Omzet deelnemingen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5.094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5.321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5.830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5.660</a:t>
                      </a:r>
                    </a:p>
                  </a:txBody>
                  <a:tcPr marL="38100" marR="38100" marT="12700" marB="127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5.660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5.660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3B5B33"/>
                          </a:solidFill>
                          <a:latin typeface="Arial"/>
                        </a:rPr>
                        <a:t>3.679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1.981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3B7A1E"/>
                          </a:solidFill>
                          <a:latin typeface="Arial"/>
                        </a:rPr>
                        <a:t>566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C0392B"/>
                          </a:solidFill>
                          <a:latin typeface="Arial"/>
                        </a:rPr>
                        <a:t>-170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5AA02C"/>
                          </a:solidFill>
                          <a:latin typeface="Arial"/>
                        </a:rPr>
                        <a:t>█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Taakstelling omzet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3B5B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Interne eliminaties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3B5B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Omzet old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118.525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116.754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112.768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114.097</a:t>
                      </a:r>
                    </a:p>
                  </a:txBody>
                  <a:tcPr marL="38100" marR="38100" marT="12700" marB="127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114.097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114.097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1">
                          <a:solidFill>
                            <a:srgbClr val="3B5B33"/>
                          </a:solidFill>
                          <a:latin typeface="Arial"/>
                        </a:rPr>
                        <a:t>74.163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39.934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C0392B"/>
                          </a:solidFill>
                          <a:latin typeface="Arial"/>
                        </a:rPr>
                        <a:t>-4.429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3B7A1E"/>
                          </a:solidFill>
                          <a:latin typeface="Arial"/>
                        </a:rPr>
                        <a:t>1.329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D7372F"/>
                          </a:solidFill>
                          <a:latin typeface="Arial"/>
                        </a:rPr>
                        <a:t>████████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IFRS-eliminaties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3B5B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Omzet IFRS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118.525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116.754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112.768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114.097</a:t>
                      </a:r>
                    </a:p>
                  </a:txBody>
                  <a:tcPr marL="38100" marR="38100" marT="12700" marB="127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114.097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114.097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1">
                          <a:solidFill>
                            <a:srgbClr val="3B5B33"/>
                          </a:solidFill>
                          <a:latin typeface="Arial"/>
                        </a:rPr>
                        <a:t>74.163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39.934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C0392B"/>
                          </a:solidFill>
                          <a:latin typeface="Arial"/>
                        </a:rPr>
                        <a:t>-4.429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3B7A1E"/>
                          </a:solidFill>
                          <a:latin typeface="Arial"/>
                        </a:rPr>
                        <a:t>1.329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D7372F"/>
                          </a:solidFill>
                          <a:latin typeface="Arial"/>
                        </a:rPr>
                        <a:t>████████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Projectresultaat (BOR) opstal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10.424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10.292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9.994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10.093</a:t>
                      </a:r>
                    </a:p>
                  </a:txBody>
                  <a:tcPr marL="38100" marR="38100" marT="12700" marB="127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10.093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10.093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3B5B33"/>
                          </a:solidFill>
                          <a:latin typeface="Arial"/>
                        </a:rPr>
                        <a:t>6.560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3.533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C0392B"/>
                          </a:solidFill>
                          <a:latin typeface="Arial"/>
                        </a:rPr>
                        <a:t>-331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3B7A1E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D7372F"/>
                          </a:solidFill>
                          <a:latin typeface="Arial"/>
                        </a:rPr>
                        <a:t>█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Projectresultaat (BOR) deelnemingen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38100" marR="38100" marT="12700" marB="127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3B5B33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3B7A1E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C0392B"/>
                          </a:solidFill>
                          <a:latin typeface="Arial"/>
                        </a:rPr>
                        <a:t>-12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5AA02C"/>
                          </a:solidFill>
                          <a:latin typeface="Arial"/>
                        </a:rPr>
                        <a:t>█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Projectresultaten / BOR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10.770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10.653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10.389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10.477</a:t>
                      </a:r>
                    </a:p>
                  </a:txBody>
                  <a:tcPr marL="38100" marR="38100" marT="12700" marB="127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10.477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10.477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1">
                          <a:solidFill>
                            <a:srgbClr val="3B5B33"/>
                          </a:solidFill>
                          <a:latin typeface="Arial"/>
                        </a:rPr>
                        <a:t>6.810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3.667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C0392B"/>
                          </a:solidFill>
                          <a:latin typeface="Arial"/>
                        </a:rPr>
                        <a:t>-293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3B7A1E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D7372F"/>
                          </a:solidFill>
                          <a:latin typeface="Arial"/>
                        </a:rPr>
                        <a:t>█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AK-dekking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3B5B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Fees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3B5B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Overige resultaten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3B5B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Taakstelling EBIT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3B5B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EBIT-bijdrage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10.770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10.653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10.389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10.477</a:t>
                      </a:r>
                    </a:p>
                  </a:txBody>
                  <a:tcPr marL="38100" marR="38100" marT="12700" marB="127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10.477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10.477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1">
                          <a:solidFill>
                            <a:srgbClr val="3B5B33"/>
                          </a:solidFill>
                          <a:latin typeface="Arial"/>
                        </a:rPr>
                        <a:t>6.810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3.667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C0392B"/>
                          </a:solidFill>
                          <a:latin typeface="Arial"/>
                        </a:rPr>
                        <a:t>-293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3B7A1E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D7372F"/>
                          </a:solidFill>
                          <a:latin typeface="Arial"/>
                        </a:rPr>
                        <a:t>█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BOR 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38100" marR="38100" marT="12700" marB="127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1">
                          <a:solidFill>
                            <a:srgbClr val="3B5B33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C0392B"/>
                          </a:solidFill>
                          <a:latin typeface="Arial"/>
                        </a:rPr>
                        <a:t>-0,0%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EBIT 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38100" marR="38100" marT="12700" marB="127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1">
                          <a:solidFill>
                            <a:srgbClr val="3B5B33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C0392B"/>
                          </a:solidFill>
                          <a:latin typeface="Arial"/>
                        </a:rPr>
                        <a:t>-0,0%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1000"/>
            <a:ext cx="76200" cy="381000"/>
          </a:xfrm>
          <a:prstGeom prst="rect">
            <a:avLst/>
          </a:prstGeom>
          <a:solidFill>
            <a:srgbClr val="F5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0400" y="355600"/>
            <a:ext cx="10922000" cy="43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284B"/>
                </a:solidFill>
                <a:latin typeface="Arial"/>
              </a:rPr>
              <a:t>Projecten en stoplicht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" y="8128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385"/>
                </a:solidFill>
                <a:latin typeface="Arial"/>
              </a:rPr>
              <a:t>Rode stoplichten: verkoop 4 · vergunning 2 · netcongestie 1  ·  2 verliesproject(en)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9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553200"/>
            <a:ext cx="889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385"/>
                </a:solidFill>
                <a:latin typeface="Arial"/>
              </a:rPr>
              <a:t>Demo Regio  ·  Q3 2026  ·  peildatum 30-09-2026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0" y="6553200"/>
            <a:ext cx="5588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4284B"/>
                </a:solidFill>
                <a:latin typeface="Arial"/>
              </a:rPr>
              <a:t>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19200"/>
          <a:ext cx="11277600" cy="3378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43480"/>
                <a:gridCol w="939800"/>
                <a:gridCol w="939800"/>
                <a:gridCol w="939800"/>
                <a:gridCol w="939800"/>
                <a:gridCol w="751840"/>
                <a:gridCol w="939800"/>
                <a:gridCol w="939800"/>
                <a:gridCol w="751840"/>
                <a:gridCol w="845820"/>
                <a:gridCol w="845820"/>
              </a:tblGrid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Omzet FY Q3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Realisatie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To go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BOR %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Δ vs budget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Orderintake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Verkoop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Vergunning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Netcongestie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Lindehaven, Parkzoom fase 1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Opstal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5.594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1A2233"/>
                          </a:solidFill>
                          <a:latin typeface="Arial"/>
                        </a:rPr>
                        <a:t>3.636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1.958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C0392B"/>
                          </a:solidFill>
                          <a:latin typeface="Arial"/>
                        </a:rPr>
                        <a:t>-559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01-2025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9E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9E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9E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Duinwaard, De Watergaarde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Opstal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3.720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1A2233"/>
                          </a:solidFill>
                          <a:latin typeface="Arial"/>
                        </a:rPr>
                        <a:t>2.418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1.302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3B7A1E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02-2025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3B2F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9E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F39C12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Veldendam, Stationshof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Opstal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4.560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1A2233"/>
                          </a:solidFill>
                          <a:latin typeface="Arial"/>
                        </a:rPr>
                        <a:t>2.964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1.596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C0392B"/>
                          </a:solidFill>
                          <a:latin typeface="Arial"/>
                        </a:rPr>
                        <a:t>-456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03-2025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9E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9E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F39C12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Meerhovenstad, Het Kompas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Deelneming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2.419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1A2233"/>
                          </a:solidFill>
                          <a:latin typeface="Arial"/>
                        </a:rPr>
                        <a:t>1.572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847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3B7A1E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04-2025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F39C12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3B2F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F39C12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Zilverdam, Kadezicht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Opstal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6.720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1A2233"/>
                          </a:solidFill>
                          <a:latin typeface="Arial"/>
                        </a:rPr>
                        <a:t>4.368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2.352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C0392B"/>
                          </a:solidFill>
                          <a:latin typeface="Arial"/>
                        </a:rPr>
                        <a:t>-672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05-2025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9E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F39C12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9E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Boswaard, De Eiken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Opstal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6.566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1A2233"/>
                          </a:solidFill>
                          <a:latin typeface="Arial"/>
                        </a:rPr>
                        <a:t>4.268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2.298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3B7A1E"/>
                          </a:solidFill>
                          <a:latin typeface="Arial"/>
                        </a:rPr>
                        <a:t>657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06-2026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3B2F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9E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F39C12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Rietdam, Havenkwartier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Opstal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6.080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1A2233"/>
                          </a:solidFill>
                          <a:latin typeface="Arial"/>
                        </a:rPr>
                        <a:t>3.952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2.128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C0392B"/>
                          </a:solidFill>
                          <a:latin typeface="Arial"/>
                        </a:rPr>
                        <a:t>-608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07-2026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9E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9E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F39C12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Lindehaven, De Brink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Opstal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1.953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1A2233"/>
                          </a:solidFill>
                          <a:latin typeface="Arial"/>
                        </a:rPr>
                        <a:t>1.269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684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C0392B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3B7A1E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08-2026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9E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9E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F39C12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Duinwaard, Duinrand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Opstal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16.632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1A2233"/>
                          </a:solidFill>
                          <a:latin typeface="Arial"/>
                        </a:rPr>
                        <a:t>10.811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5.821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C0392B"/>
                          </a:solidFill>
                          <a:latin typeface="Arial"/>
                        </a:rPr>
                        <a:t>-1.663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09-2026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3B2F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9E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9E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Veldendam, Groene Singel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Opstal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3.132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1A2233"/>
                          </a:solidFill>
                          <a:latin typeface="Arial"/>
                        </a:rPr>
                        <a:t>2.036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1.096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3B7A1E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01-2026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9E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9E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9E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Meerhovenstad, Hofstaete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Opstal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14.592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1A2233"/>
                          </a:solidFill>
                          <a:latin typeface="Arial"/>
                        </a:rPr>
                        <a:t>9.485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5.107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C0392B"/>
                          </a:solidFill>
                          <a:latin typeface="Arial"/>
                        </a:rPr>
                        <a:t>-1.459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02-2026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9E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3B2F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F39C12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Zilverdam, De Werf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Deelneming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1.435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1A2233"/>
                          </a:solidFill>
                          <a:latin typeface="Arial"/>
                        </a:rPr>
                        <a:t>933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502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3B7A1E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03-2026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9E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9E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F39C12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Boswaard, Boskamers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Opstal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3.780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1A2233"/>
                          </a:solidFill>
                          <a:latin typeface="Arial"/>
                        </a:rPr>
                        <a:t>2.457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1.323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C0392B"/>
                          </a:solidFill>
                          <a:latin typeface="Arial"/>
                        </a:rPr>
                        <a:t>-378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04-2026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9E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9E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9E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Rietdam, Rietoevers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Opstal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8.770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1A2233"/>
                          </a:solidFill>
                          <a:latin typeface="Arial"/>
                        </a:rPr>
                        <a:t>5.700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3.069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3B7A1E"/>
                          </a:solidFill>
                          <a:latin typeface="Arial"/>
                        </a:rPr>
                        <a:t>877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05-2026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9E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F39C12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F39C12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Lindehaven, Parkzoom fase 2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Opstal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3.300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1A2233"/>
                          </a:solidFill>
                          <a:latin typeface="Arial"/>
                        </a:rPr>
                        <a:t>2.145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1.155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C0392B"/>
                          </a:solidFill>
                          <a:latin typeface="Arial"/>
                        </a:rPr>
                        <a:t>-330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06-2026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9E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9E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F39C12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Duinwaard, De Lantaarn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Opstal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4.864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1A2233"/>
                          </a:solidFill>
                          <a:latin typeface="Arial"/>
                        </a:rPr>
                        <a:t>3.162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1.702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3B7A1E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07-2026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F39C12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9E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F39C12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Veldendam, Spoorpark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Opstal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11.760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1A2233"/>
                          </a:solidFill>
                          <a:latin typeface="Arial"/>
                        </a:rPr>
                        <a:t>7.644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4.116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C0392B"/>
                          </a:solidFill>
                          <a:latin typeface="Arial"/>
                        </a:rPr>
                        <a:t>-1.176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08-2026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9E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9E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F39C12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Meerhovenstad, De Boog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Deelneming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1.806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1A2233"/>
                          </a:solidFill>
                          <a:latin typeface="Arial"/>
                        </a:rPr>
                        <a:t>1.174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C0392B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3B7A1E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09-2026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3B2F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9E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F39C12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1000"/>
            <a:ext cx="76200" cy="381000"/>
          </a:xfrm>
          <a:prstGeom prst="rect">
            <a:avLst/>
          </a:prstGeom>
          <a:solidFill>
            <a:srgbClr val="F5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0400" y="355600"/>
            <a:ext cx="10922000" cy="43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284B"/>
                </a:solidFill>
                <a:latin typeface="Arial"/>
              </a:rPr>
              <a:t>Projecten en stoplicht (vervolg)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" y="8128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385"/>
                </a:solidFill>
                <a:latin typeface="Arial"/>
              </a:rPr>
              <a:t>Rode stoplichten: verkoop 4 · vergunning 2 · netcongestie 1  ·  2 verliesproject(en)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9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553200"/>
            <a:ext cx="889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385"/>
                </a:solidFill>
                <a:latin typeface="Arial"/>
              </a:rPr>
              <a:t>Demo Regio  ·  Q3 2026  ·  peildatum 30-09-2026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0" y="6553200"/>
            <a:ext cx="5588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4284B"/>
                </a:solidFill>
                <a:latin typeface="Arial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19200"/>
          <a:ext cx="11277600" cy="5715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43480"/>
                <a:gridCol w="939800"/>
                <a:gridCol w="939800"/>
                <a:gridCol w="939800"/>
                <a:gridCol w="939800"/>
                <a:gridCol w="751840"/>
                <a:gridCol w="939800"/>
                <a:gridCol w="939800"/>
                <a:gridCol w="751840"/>
                <a:gridCol w="845820"/>
                <a:gridCol w="845820"/>
              </a:tblGrid>
              <a:tr h="190500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Omzet FY Q3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Realisatie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To go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BOR %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Δ vs budget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Orderintake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Verkoop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Vergunning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Netcongestie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Zilverdam, Havenlicht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Opstal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6.174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2233"/>
                          </a:solidFill>
                          <a:latin typeface="Arial"/>
                        </a:rPr>
                        <a:t>4.013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2.161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C0392B"/>
                          </a:solidFill>
                          <a:latin typeface="Arial"/>
                        </a:rPr>
                        <a:t>-617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01-2026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E9E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E9E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E9E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Boswaard, Parkeergebouw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Opstal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2233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B7A1E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02-2026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C5CAD3"/>
                          </a:solidFill>
                          <a:latin typeface="Arial"/>
                        </a:rPr>
                        <a:t>○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E9E44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D63B2F"/>
                          </a:solidFill>
                          <a:latin typeface="Arial"/>
                        </a:rPr>
                        <a:t>●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1000"/>
            <a:ext cx="76200" cy="381000"/>
          </a:xfrm>
          <a:prstGeom prst="rect">
            <a:avLst/>
          </a:prstGeom>
          <a:solidFill>
            <a:srgbClr val="F5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0400" y="355600"/>
            <a:ext cx="10922000" cy="43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284B"/>
                </a:solidFill>
                <a:latin typeface="Arial"/>
              </a:rPr>
              <a:t>Prognoseverloop en realisatie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" y="8128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385"/>
                </a:solidFill>
                <a:latin typeface="Arial"/>
              </a:rPr>
              <a:t>Prognoseverloop en brug naar de geselecteerde versie  ·  groen = hoger, rood = lager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9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553200"/>
            <a:ext cx="889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385"/>
                </a:solidFill>
                <a:latin typeface="Arial"/>
              </a:rPr>
              <a:t>Demo Regio  ·  Q3 2026  ·  peildatum 30-09-2026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0" y="6553200"/>
            <a:ext cx="5588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4284B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70000"/>
            <a:ext cx="55372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284B"/>
                </a:solidFill>
                <a:latin typeface="Arial"/>
              </a:rPr>
              <a:t>Brug Q2 → Q3: grootste projectmutaties (Δ FY-omzet, EUR mln)</a:t>
            </a:r>
          </a:p>
        </p:txBody>
      </p:sp>
      <p:pic>
        <p:nvPicPr>
          <p:cNvPr id="10" name="Picture 9" descr="p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853" y="1524000"/>
            <a:ext cx="4697892" cy="4775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97600" y="1270000"/>
            <a:ext cx="55372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284B"/>
                </a:solidFill>
                <a:latin typeface="Arial"/>
              </a:rPr>
              <a:t>Realisatie (massief) vs nog te gaan (gearceerd) — top 10 projecten, Q3 2026 (vastgesteld) (EUR mln)</a:t>
            </a:r>
          </a:p>
        </p:txBody>
      </p:sp>
      <p:pic>
        <p:nvPicPr>
          <p:cNvPr id="12" name="Picture 11" descr="p-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7600" y="1524000"/>
            <a:ext cx="5537200" cy="473850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1000"/>
            <a:ext cx="76200" cy="381000"/>
          </a:xfrm>
          <a:prstGeom prst="rect">
            <a:avLst/>
          </a:prstGeom>
          <a:solidFill>
            <a:srgbClr val="F5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0400" y="355600"/>
            <a:ext cx="10922000" cy="43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284B"/>
                </a:solidFill>
                <a:latin typeface="Arial"/>
              </a:rPr>
              <a:t>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" y="8128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385"/>
                </a:solidFill>
                <a:latin typeface="Arial"/>
              </a:rPr>
              <a:t>Omzet 2026–2032 volgens de upload van 30-09-2026, naast het vastgelegde budget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9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553200"/>
            <a:ext cx="889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385"/>
                </a:solidFill>
                <a:latin typeface="Arial"/>
              </a:rPr>
              <a:t>Demo Regio  ·  Q3 2026  ·  peildatum 30-09-2026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0" y="6553200"/>
            <a:ext cx="5588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4284B"/>
                </a:solidFill>
                <a:latin typeface="Arial"/>
              </a:rPr>
              <a:t>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19200"/>
          <a:ext cx="11277597" cy="30226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176888"/>
                <a:gridCol w="1392296"/>
                <a:gridCol w="1392296"/>
                <a:gridCol w="1392296"/>
                <a:gridCol w="1392296"/>
                <a:gridCol w="1531525"/>
              </a:tblGrid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Kengetal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2025 realisatie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2026 FY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2028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Arial"/>
                        </a:rPr>
                        <a:t>Totaal vanaf 2026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Omzet opstal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19.080</a:t>
                      </a:r>
                    </a:p>
                  </a:txBody>
                  <a:tcPr marL="38100" marR="38100" marT="12700" marB="12700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108.437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207.768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111.875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428.080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Omzet deelnemingen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864</a:t>
                      </a:r>
                    </a:p>
                  </a:txBody>
                  <a:tcPr marL="38100" marR="38100" marT="12700" marB="12700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5.660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11.060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5.956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22.676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Omzet totaal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19.944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114.097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218.828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117.831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450.756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1">
                          <a:solidFill>
                            <a:srgbClr val="6B7385"/>
                          </a:solidFill>
                          <a:latin typeface="Arial"/>
                        </a:rPr>
                        <a:t>waarvan gerealiseerd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385"/>
                          </a:solidFill>
                          <a:latin typeface="Arial"/>
                        </a:rPr>
                        <a:t>19.944</a:t>
                      </a:r>
                    </a:p>
                  </a:txBody>
                  <a:tcPr marL="38100" marR="38100" marT="12700" marB="12700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385"/>
                          </a:solidFill>
                          <a:latin typeface="Arial"/>
                        </a:rPr>
                        <a:t>74.163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385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385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BOR totaal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1.559</a:t>
                      </a:r>
                    </a:p>
                  </a:txBody>
                  <a:tcPr marL="38100" marR="38100" marT="12700" marB="12700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10.477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18.301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9.854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38.633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BOR 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38100" marR="38100" marT="12700" marB="12700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Budget omzet (vastgelegd)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118.525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227.956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Δ outlook vs budget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C0392B"/>
                          </a:solidFill>
                          <a:latin typeface="Arial"/>
                        </a:rPr>
                        <a:t>-4.429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C0392B"/>
                          </a:solidFill>
                          <a:latin typeface="Arial"/>
                        </a:rPr>
                        <a:t>-9.127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Woningverkopen (aantal)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483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1.095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1">
                          <a:solidFill>
                            <a:srgbClr val="6B7385"/>
                          </a:solidFill>
                          <a:latin typeface="Arial"/>
                        </a:rPr>
                        <a:t>waarvan gerealiseerd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385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385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385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385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Budget woningverkopen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Orderintake (# projecten)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38100" marR="38100" marT="12700" marB="12700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Orderintake PEW-omzet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132.960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337.740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A2233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38100" marR="38100" marT="12700" marB="12700" anchor="ctr">
                    <a:solidFill>
                      <a:srgbClr val="F3F5F9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1">
                          <a:solidFill>
                            <a:srgbClr val="6B7385"/>
                          </a:solidFill>
                          <a:latin typeface="Arial"/>
                        </a:rPr>
                        <a:t>waarvan gerealiseerd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385"/>
                          </a:solidFill>
                          <a:latin typeface="Arial"/>
                        </a:rPr>
                        <a:t>132.960</a:t>
                      </a:r>
                    </a:p>
                  </a:txBody>
                  <a:tcPr marL="38100" marR="38100" marT="12700" marB="12700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385"/>
                          </a:solidFill>
                          <a:latin typeface="Arial"/>
                        </a:rPr>
                        <a:t>337.740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385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1">
                          <a:solidFill>
                            <a:srgbClr val="6B7385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Orderintake PEW-BOR 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38100" marR="38100" marT="12700" marB="12700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778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Budget orderintake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A2233"/>
                          </a:solidFill>
                          <a:latin typeface="Arial"/>
                        </a:rPr>
                        <a:t>n.b.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1000"/>
            <a:ext cx="76200" cy="381000"/>
          </a:xfrm>
          <a:prstGeom prst="rect">
            <a:avLst/>
          </a:prstGeom>
          <a:solidFill>
            <a:srgbClr val="F5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0400" y="355600"/>
            <a:ext cx="10922000" cy="43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284B"/>
                </a:solidFill>
                <a:latin typeface="Arial"/>
              </a:rPr>
              <a:t>Outlook in beeld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" y="8128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385"/>
                </a:solidFill>
                <a:latin typeface="Arial"/>
              </a:rPr>
              <a:t>Omzet 2026–2032 volgens de upload van 30-09-2026, naast het vastgelegde budget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9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553200"/>
            <a:ext cx="889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385"/>
                </a:solidFill>
                <a:latin typeface="Arial"/>
              </a:rPr>
              <a:t>Demo Regio  ·  Q3 2026  ·  peildatum 30-09-2026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0" y="6553200"/>
            <a:ext cx="5588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4284B"/>
                </a:solidFill>
                <a:latin typeface="Arial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70000"/>
            <a:ext cx="3683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284B"/>
                </a:solidFill>
                <a:latin typeface="Arial"/>
              </a:rPr>
              <a:t>Omzet per jaar (EUR mln)</a:t>
            </a:r>
          </a:p>
        </p:txBody>
      </p:sp>
      <p:pic>
        <p:nvPicPr>
          <p:cNvPr id="10" name="Picture 9" descr="p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24000"/>
            <a:ext cx="3683000" cy="47301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54500" y="1270000"/>
            <a:ext cx="3683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284B"/>
                </a:solidFill>
                <a:latin typeface="Arial"/>
              </a:rPr>
              <a:t>Woningverkopen per jaar</a:t>
            </a:r>
          </a:p>
        </p:txBody>
      </p:sp>
      <p:pic>
        <p:nvPicPr>
          <p:cNvPr id="12" name="Picture 11" descr="p-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4500" y="1524000"/>
            <a:ext cx="3683000" cy="473018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51800" y="1270000"/>
            <a:ext cx="3683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284B"/>
                </a:solidFill>
                <a:latin typeface="Arial"/>
              </a:rPr>
              <a:t>Orderintake per jaar (EUR mln)</a:t>
            </a:r>
          </a:p>
        </p:txBody>
      </p:sp>
      <p:pic>
        <p:nvPicPr>
          <p:cNvPr id="14" name="Picture 13" descr="p-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1800" y="1524000"/>
            <a:ext cx="3683000" cy="47301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1000"/>
            <a:ext cx="76200" cy="381000"/>
          </a:xfrm>
          <a:prstGeom prst="rect">
            <a:avLst/>
          </a:prstGeom>
          <a:solidFill>
            <a:srgbClr val="F5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0400" y="355600"/>
            <a:ext cx="10922000" cy="43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284B"/>
                </a:solidFill>
                <a:latin typeface="Arial"/>
              </a:rPr>
              <a:t>Orderintake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" y="8128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385"/>
                </a:solidFill>
                <a:latin typeface="Arial"/>
              </a:rPr>
              <a:t>Orderintake 2026 t/m peildatum: € 337.7 mln  ·  15 projecten (PEW-omzet)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9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553200"/>
            <a:ext cx="889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385"/>
                </a:solidFill>
                <a:latin typeface="Arial"/>
              </a:rPr>
              <a:t>Demo Regio  ·  Q3 2026  ·  peildatum 30-09-2026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0" y="6553200"/>
            <a:ext cx="5588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4284B"/>
                </a:solidFill>
                <a:latin typeface="Arial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70000"/>
            <a:ext cx="4826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284B"/>
                </a:solidFill>
                <a:latin typeface="Arial"/>
              </a:rPr>
              <a:t>Per jaar en kwartaal (PEW-omzet)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524000"/>
          <a:ext cx="4825995" cy="5715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09705"/>
                <a:gridCol w="709705"/>
                <a:gridCol w="709705"/>
                <a:gridCol w="709705"/>
                <a:gridCol w="709705"/>
                <a:gridCol w="851647"/>
                <a:gridCol w="425823"/>
              </a:tblGrid>
              <a:tr h="190500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Jaar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Q1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Q2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Q3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Q4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Totaal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A2233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60.000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72.960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A2233"/>
                          </a:solidFill>
                          <a:latin typeface="Arial"/>
                        </a:rPr>
                        <a:t>132.960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A2233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92.560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96.360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148.820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A2233"/>
                          </a:solidFill>
                          <a:latin typeface="Arial"/>
                        </a:rPr>
                        <a:t>337.740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588000" y="1270000"/>
            <a:ext cx="61468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284B"/>
                </a:solidFill>
                <a:latin typeface="Arial"/>
              </a:rPr>
              <a:t>Recentste orderintake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588000" y="1524000"/>
          <a:ext cx="6146796" cy="20955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78084"/>
                <a:gridCol w="409786"/>
                <a:gridCol w="1775742"/>
                <a:gridCol w="751275"/>
                <a:gridCol w="682977"/>
                <a:gridCol w="751275"/>
                <a:gridCol w="546382"/>
                <a:gridCol w="751275"/>
              </a:tblGrid>
              <a:tr h="190500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Jaar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Kw.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Datum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PEW-omzet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BOR %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38100" marR="38100" marT="12700" marB="12700" anchor="ctr">
                    <a:solidFill>
                      <a:srgbClr val="14284B"/>
                    </a:solidFill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Q3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Meerhovenstad, De Boog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Deelneming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01-09-26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12.040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C0392B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gerealiseerd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Q3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Duinwaard, Duinrand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Opstal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01-09-26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39.600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gerealiseerd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Q3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Veldendam, Spoorpark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Opstal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01-08-26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47.040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gerealiseerd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Q3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Lindehaven, De Brink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Opstal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01-08-26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13.020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C0392B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gerealiseerd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Q3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Duinwaard, De Lantaarn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Opstal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01-07-26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12.800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gerealiseerd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Q3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Rietdam, Havenkwartier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Opstal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01-07-26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24.320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gerealiseerd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Q2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Lindehaven, Parkzoom fase 2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Opstal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01-06-26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33.000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gerealiseerd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Q2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Boswaard, De Eiken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Opstal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01-06-26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17.280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gerealiseerd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Q2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Rietdam, Rietoevers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Opstal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01-05-26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20.880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gerealiseerd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Q2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Boswaard, Boskamers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Opstal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01-04-26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25.200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A2233"/>
                          </a:solidFill>
                          <a:latin typeface="Arial"/>
                        </a:rPr>
                        <a:t>gerealiseerd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1000"/>
            <a:ext cx="76200" cy="381000"/>
          </a:xfrm>
          <a:prstGeom prst="rect">
            <a:avLst/>
          </a:prstGeom>
          <a:solidFill>
            <a:srgbClr val="F5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0400" y="355600"/>
            <a:ext cx="10922000" cy="43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284B"/>
                </a:solidFill>
                <a:latin typeface="Arial"/>
              </a:rPr>
              <a:t>Woningverkopen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" y="8128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385"/>
                </a:solidFill>
                <a:latin typeface="Arial"/>
              </a:rPr>
              <a:t>Verkocht 2026 t/m peildatum: 193 woningen  ·  jaarverwachting 360  ·  etalage 902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9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553200"/>
            <a:ext cx="889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385"/>
                </a:solidFill>
                <a:latin typeface="Arial"/>
              </a:rPr>
              <a:t>Demo Regio  ·  Q3 2026  ·  peildatum 30-09-2026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0" y="6553200"/>
            <a:ext cx="5588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4284B"/>
                </a:solidFill>
                <a:latin typeface="Arial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19200"/>
            <a:ext cx="1794933" cy="9398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19200"/>
            <a:ext cx="1794933" cy="38100"/>
          </a:xfrm>
          <a:prstGeom prst="rect">
            <a:avLst/>
          </a:prstGeom>
          <a:solidFill>
            <a:srgbClr val="F5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3400" y="1320800"/>
            <a:ext cx="1642533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1">
                <a:solidFill>
                  <a:srgbClr val="14284B"/>
                </a:solidFill>
                <a:latin typeface="Arial"/>
              </a:rPr>
              <a:t>Totaal woningen (aandeelbasis)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1524000"/>
            <a:ext cx="1642533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14284B"/>
                </a:solidFill>
                <a:latin typeface="Arial"/>
              </a:rPr>
              <a:t>1.160 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1930400"/>
            <a:ext cx="1642533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385"/>
                </a:solidFill>
                <a:latin typeface="Arial"/>
              </a:rPr>
              <a:t>bruto (afgeleid): 1,268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53733" y="1219200"/>
            <a:ext cx="1794933" cy="9398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53733" y="1219200"/>
            <a:ext cx="1794933" cy="38100"/>
          </a:xfrm>
          <a:prstGeom prst="rect">
            <a:avLst/>
          </a:prstGeom>
          <a:solidFill>
            <a:srgbClr val="F5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9933" y="1320800"/>
            <a:ext cx="1642533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1">
                <a:solidFill>
                  <a:srgbClr val="14284B"/>
                </a:solidFill>
                <a:latin typeface="Arial"/>
              </a:rPr>
              <a:t>Verkocht t/m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9933" y="1524000"/>
            <a:ext cx="1642533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14284B"/>
                </a:solidFill>
                <a:latin typeface="Arial"/>
              </a:rPr>
              <a:t>65 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9933" y="1930400"/>
            <a:ext cx="1642533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385"/>
                </a:solidFill>
                <a:latin typeface="Arial"/>
              </a:rPr>
              <a:t>actual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0266" y="1219200"/>
            <a:ext cx="1794933" cy="9398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50266" y="1219200"/>
            <a:ext cx="1794933" cy="38100"/>
          </a:xfrm>
          <a:prstGeom prst="rect">
            <a:avLst/>
          </a:prstGeom>
          <a:solidFill>
            <a:srgbClr val="F5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6466" y="1320800"/>
            <a:ext cx="1642533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1">
                <a:solidFill>
                  <a:srgbClr val="14284B"/>
                </a:solidFill>
                <a:latin typeface="Arial"/>
              </a:rPr>
              <a:t>Verkocht 2026 t/m 30-09-2026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6466" y="1524000"/>
            <a:ext cx="1642533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14284B"/>
                </a:solidFill>
                <a:latin typeface="Arial"/>
              </a:rPr>
              <a:t>193 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6466" y="1930400"/>
            <a:ext cx="1642533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385"/>
                </a:solidFill>
                <a:latin typeface="Arial"/>
              </a:rPr>
              <a:t>actual (hjr t/m peilmaand)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6800" y="1219200"/>
            <a:ext cx="1794933" cy="9398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6800" y="1219200"/>
            <a:ext cx="1794933" cy="38100"/>
          </a:xfrm>
          <a:prstGeom prst="rect">
            <a:avLst/>
          </a:prstGeom>
          <a:solidFill>
            <a:srgbClr val="F5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23000" y="1320800"/>
            <a:ext cx="1642533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1">
                <a:solidFill>
                  <a:srgbClr val="14284B"/>
                </a:solidFill>
                <a:latin typeface="Arial"/>
              </a:rPr>
              <a:t>Jaarverwachting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23000" y="1524000"/>
            <a:ext cx="1642533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14284B"/>
                </a:solidFill>
                <a:latin typeface="Arial"/>
              </a:rPr>
              <a:t>360 st.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23000" y="1930400"/>
            <a:ext cx="1642533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385"/>
                </a:solidFill>
                <a:latin typeface="Arial"/>
              </a:rPr>
              <a:t>waarvan prognose: 167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3333" y="1219200"/>
            <a:ext cx="1794933" cy="9398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43333" y="1219200"/>
            <a:ext cx="1794933" cy="38100"/>
          </a:xfrm>
          <a:prstGeom prst="rect">
            <a:avLst/>
          </a:prstGeom>
          <a:solidFill>
            <a:srgbClr val="F5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533" y="1320800"/>
            <a:ext cx="1642533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1">
                <a:solidFill>
                  <a:srgbClr val="14284B"/>
                </a:solidFill>
                <a:latin typeface="Arial"/>
              </a:rPr>
              <a:t>Cumulatief verkocht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19533" y="1524000"/>
            <a:ext cx="1642533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14284B"/>
                </a:solidFill>
                <a:latin typeface="Arial"/>
              </a:rPr>
              <a:t>258 st.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533" y="1930400"/>
            <a:ext cx="1642533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385"/>
                </a:solidFill>
                <a:latin typeface="Arial"/>
              </a:rPr>
              <a:t>22% van totaal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39866" y="1219200"/>
            <a:ext cx="1794933" cy="9398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939866" y="1219200"/>
            <a:ext cx="1794933" cy="38100"/>
          </a:xfrm>
          <a:prstGeom prst="rect">
            <a:avLst/>
          </a:prstGeom>
          <a:solidFill>
            <a:srgbClr val="F5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16066" y="1320800"/>
            <a:ext cx="1642533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1">
                <a:solidFill>
                  <a:srgbClr val="14284B"/>
                </a:solidFill>
                <a:latin typeface="Arial"/>
              </a:rPr>
              <a:t>Resterende etalage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16066" y="1524000"/>
            <a:ext cx="1642533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14284B"/>
                </a:solidFill>
                <a:latin typeface="Arial"/>
              </a:rPr>
              <a:t>902 st.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16066" y="1930400"/>
            <a:ext cx="1642533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385"/>
                </a:solidFill>
                <a:latin typeface="Arial"/>
              </a:rPr>
              <a:t>totaal − cumulatief actual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2286000"/>
            <a:ext cx="55372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284B"/>
                </a:solidFill>
                <a:latin typeface="Arial"/>
              </a:rPr>
              <a:t>Verkopen per kwartaal 2026–2027 (aantal): gerealiseerd massief, prognose gearceerd</a:t>
            </a:r>
          </a:p>
        </p:txBody>
      </p:sp>
      <p:pic>
        <p:nvPicPr>
          <p:cNvPr id="40" name="Picture 39" descr="p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40000"/>
            <a:ext cx="5537200" cy="371528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197600" y="2286000"/>
            <a:ext cx="55372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284B"/>
                </a:solidFill>
                <a:latin typeface="Arial"/>
              </a:rPr>
              <a:t>Jaarverwachting verkopen 2026 per versie (aantal)</a:t>
            </a:r>
          </a:p>
        </p:txBody>
      </p:sp>
      <p:pic>
        <p:nvPicPr>
          <p:cNvPr id="42" name="Picture 41" descr="p-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7600" y="2540000"/>
            <a:ext cx="5537200" cy="374102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42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1000"/>
            <a:ext cx="76200" cy="381000"/>
          </a:xfrm>
          <a:prstGeom prst="rect">
            <a:avLst/>
          </a:prstGeom>
          <a:solidFill>
            <a:srgbClr val="F5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0400" y="355600"/>
            <a:ext cx="10922000" cy="43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284B"/>
                </a:solidFill>
                <a:latin typeface="Arial"/>
              </a:rPr>
              <a:t>Aandachtspunten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9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553200"/>
            <a:ext cx="889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385"/>
                </a:solidFill>
                <a:latin typeface="Arial"/>
              </a:rPr>
              <a:t>Demo Regio  ·  Q3 2026  ·  peildatum 30-09-2026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0" y="6553200"/>
            <a:ext cx="5588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14284B"/>
                </a:solidFill>
                <a:latin typeface="Arial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70000"/>
            <a:ext cx="11277600" cy="4953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1524000"/>
            <a:ext cx="10668000" cy="444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14284B"/>
                </a:solidFill>
                <a:latin typeface="Arial"/>
              </a:rPr>
              <a:t>■  Controle: ✔ geen fouten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4284B"/>
                </a:solidFill>
                <a:latin typeface="Arial"/>
              </a:rPr>
              <a:t>■  Rood stoplicht: Duinwaard, De Watergaarde, Meerhovenstad, Het Kompas, Boswaard, De Eiken, Duinwaard, Duinrand, Meerhovenstad, Hofstaete, Meerhovenstad, De Boog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4284B"/>
                </a:solidFill>
                <a:latin typeface="Arial"/>
              </a:rPr>
              <a:t>■  Verliesprojecten (BOR &lt; 0): Lindehaven, De Brink, Meerhovenstad, De Boog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14284B"/>
                </a:solidFill>
                <a:latin typeface="Arial"/>
              </a:rPr>
              <a:t>■  7 RDFO-posten zijn n.b. (aanvullende invoer ontbreekt).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