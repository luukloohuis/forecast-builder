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0" y="0"/>
            <a:ext cx="127000" cy="6858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8000" y="762000"/>
            <a:ext cx="2921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5B800"/>
                </a:solidFill>
                <a:latin typeface="Arial"/>
              </a:rPr>
              <a:t>Demo Regio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9690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FFFFFF"/>
                </a:solidFill>
                <a:latin typeface="Arial"/>
              </a:rPr>
              <a:t>Voorbeeld — gemaakt met tools/preview_pptx.py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413000"/>
            <a:ext cx="71120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14284B"/>
                </a:solidFill>
                <a:latin typeface="Arial"/>
              </a:rPr>
              <a:t>Prognoserapportage Demo Regio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97400" y="3860800"/>
            <a:ext cx="1143000" cy="762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4114800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4284B"/>
                </a:solidFill>
                <a:latin typeface="Arial"/>
              </a:rPr>
              <a:t>Q3 2026  ·  doeljaar 2026  ·  peildatum 30-09-2026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521200"/>
            <a:ext cx="711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385"/>
                </a:solidFill>
                <a:latin typeface="Arial"/>
              </a:rPr>
              <a:t>Bron: RDFO_prototype.xlsm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Kerncijfers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Omzet FY 2026: € 114.1 mln, -4.4 mln t.o.v. budget  ·  BOR 9.2%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2</a:t>
            </a:r>
          </a:p>
        </p:txBody>
      </p:sp>
      <p:pic>
        <p:nvPicPr>
          <p:cNvPr id="9" name="Picture 8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11277600" cy="50363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Omzet en resultaat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Bedragen in EUR x 1.000  ·  massief = vastgelegd/realisatie, balkjes = afwijking t.o.v. budget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3</a:t>
            </a:r>
          </a:p>
        </p:txBody>
      </p:sp>
      <p:pic>
        <p:nvPicPr>
          <p:cNvPr id="9" name="Picture 8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83" y="1219200"/>
            <a:ext cx="10529232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Projecten en stoplicht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Rode stoplichten: verkoop 4 · vergunning 2 · netcongestie 1  ·  2 verliesproject(en)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4</a:t>
            </a:r>
          </a:p>
        </p:txBody>
      </p:sp>
      <p:pic>
        <p:nvPicPr>
          <p:cNvPr id="9" name="Picture 8" descr="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72" y="1219200"/>
            <a:ext cx="11151854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Projecten en stoplicht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Rode stoplichten: verkoop 4 · vergunning 2 · netcongestie 1  ·  2 verliesproject(en)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5</a:t>
            </a:r>
          </a:p>
        </p:txBody>
      </p:sp>
      <p:pic>
        <p:nvPicPr>
          <p:cNvPr id="9" name="Picture 8" descr="p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72" y="1219200"/>
            <a:ext cx="11151854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Prognoseverloop en realisatie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Realisatie t/m peildatum: € 74.2 mln = 65% van FY-prognose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6</a:t>
            </a:r>
          </a:p>
        </p:txBody>
      </p:sp>
      <p:pic>
        <p:nvPicPr>
          <p:cNvPr id="9" name="Picture 8" descr="p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11277600" cy="49694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Omzet 2026–2032 volgens de upload van 30-09-2026, naast het vastgelegde budget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7</a:t>
            </a:r>
          </a:p>
        </p:txBody>
      </p:sp>
      <p:pic>
        <p:nvPicPr>
          <p:cNvPr id="9" name="Picture 8" descr="p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139" y="1219200"/>
            <a:ext cx="977372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Outlook in beeld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Omzet 2026–2032 volgens de upload van 30-09-2026, naast het vastgelegde budget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8</a:t>
            </a:r>
          </a:p>
        </p:txBody>
      </p:sp>
      <p:pic>
        <p:nvPicPr>
          <p:cNvPr id="9" name="Picture 8" descr="p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11277600" cy="49313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Orderintake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Orderintake 2026 t/m peildatum: € 337.7 mln  ·  15 projecten (PEW-omzet)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9</a:t>
            </a:r>
          </a:p>
        </p:txBody>
      </p:sp>
      <p:pic>
        <p:nvPicPr>
          <p:cNvPr id="9" name="Picture 8" descr="p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11277600" cy="36099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Woningverkopen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Verkocht 2026 t/m peildatum: 193 woningen  ·  jaarverwachting 360  ·  etalage 902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p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11277600" cy="50223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Aandachtspunten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70000"/>
            <a:ext cx="11277600" cy="4953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524000"/>
            <a:ext cx="1066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4284B"/>
                </a:solidFill>
                <a:latin typeface="Arial"/>
              </a:rPr>
              <a:t>■  Controle: ✔ geen fouten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4284B"/>
                </a:solidFill>
                <a:latin typeface="Arial"/>
              </a:rPr>
              <a:t>■  Rood stoplicht: Duinwaard, De Watergaarde, Meerhovenstad, Het Kompas, Boswaard, De Eiken, Duinwaard, Duinrand, Meerhovenstad, Hofstaete, Meerhovenstad, De Boog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4284B"/>
                </a:solidFill>
                <a:latin typeface="Arial"/>
              </a:rPr>
              <a:t>■  Verliesprojecten (BOR &lt; 0): Lindehaven, De Brink, Meerhovenstad, De Boog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4284B"/>
                </a:solidFill>
                <a:latin typeface="Arial"/>
              </a:rPr>
              <a:t>■  7 RDFO-posten zijn n.b. (aanvullende invoer ontbreekt).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