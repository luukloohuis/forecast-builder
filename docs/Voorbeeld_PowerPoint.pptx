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0" y="0"/>
            <a:ext cx="101600" cy="68580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762000"/>
            <a:ext cx="292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4284B"/>
                </a:solidFill>
                <a:latin typeface="Arial"/>
              </a:rPr>
              <a:t>Demo Regio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969000"/>
            <a:ext cx="2921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284B"/>
                </a:solidFill>
                <a:latin typeface="Arial"/>
              </a:rPr>
              <a:t>Voorbeeld — gemaakt met tools/preview_pptx.py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413000"/>
            <a:ext cx="71120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>
                <a:solidFill>
                  <a:srgbClr val="14284B"/>
                </a:solidFill>
                <a:latin typeface="Arial"/>
              </a:rPr>
              <a:t>Prognoserapportage Demo Regio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97400" y="3860800"/>
            <a:ext cx="1143000" cy="762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114800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4284B"/>
                </a:solidFill>
                <a:latin typeface="Arial"/>
              </a:rPr>
              <a:t>Q3 2026  ·  doeljaar 2026  ·  peildatum 30-09-2026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521200"/>
            <a:ext cx="711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385"/>
                </a:solidFill>
                <a:latin typeface="Arial"/>
              </a:rPr>
              <a:t>Bron: RDFO_prototype.xlsm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Kerncijfers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8128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Arial"/>
              </a:rPr>
              <a:t>Omzet FY 2026: € 114.1 mln, -4.4 mln t.o.v. budget  ·  BOR 9.2%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Omzet FY 2026 · 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114,1 mln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Δ budget: -4.4 mln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3733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53733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9933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BOR FY 2026 · 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9933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10,5 mln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9933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BOR %: 9.2%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0266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0266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6466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Realisatie YTD (zelfde peildatum)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6466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74,2 mln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6466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65% van FY-prognose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6800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6800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3000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Omzet to go (FY − realisatie)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39,9 mln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000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BOR to go: 3.7 mln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3333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3333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533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Woningverkopen 2026 · Q3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533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360 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533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actual YTD: 193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39866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39866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6066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Orderintake 2026 t/m peildatum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6066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337,7 mln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6066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15 projecten (PEW-omzet)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286000"/>
            <a:ext cx="5537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Prognoseverloop omzet FY 2026: budget → per versie → FC Q3</a:t>
            </a:r>
            <a:br/>
            <a:r>
              <a:t>114.1 (EUR mln)</a:t>
            </a:r>
          </a:p>
        </p:txBody>
      </p:sp>
      <p:pic>
        <p:nvPicPr>
          <p:cNvPr id="40" name="Picture 39" descr="p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40000"/>
            <a:ext cx="5537200" cy="340567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97600" y="2286000"/>
            <a:ext cx="5537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Outlook omzet per jaar: realisatie massief, prognose gearceerd, budget = streep (EUR mln)</a:t>
            </a:r>
          </a:p>
        </p:txBody>
      </p:sp>
      <p:pic>
        <p:nvPicPr>
          <p:cNvPr id="42" name="Picture 41" descr="p-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40000"/>
            <a:ext cx="5537200" cy="3697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Omzet en resultaat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8128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Arial"/>
              </a:rPr>
              <a:t>Bedragen in EUR x 1.000  ·  massief = vastgelegd/realisatie, balkjes = afwijking t.o.v. budget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19200"/>
          <a:ext cx="11277597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1510"/>
                <a:gridCol w="700472"/>
                <a:gridCol w="700472"/>
                <a:gridCol w="700472"/>
                <a:gridCol w="700472"/>
                <a:gridCol w="700472"/>
                <a:gridCol w="770519"/>
                <a:gridCol w="770519"/>
                <a:gridCol w="770519"/>
                <a:gridCol w="700472"/>
                <a:gridCol w="700472"/>
                <a:gridCol w="700472"/>
                <a:gridCol w="560377"/>
                <a:gridCol w="560377"/>
              </a:tblGrid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Rubriek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Budget FY 2026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Q1 2026 FY-prognose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Q2 2026 FY-prognose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Q3 2026 FY-prognose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Q4 2026 FY-prognose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Upload 30-09-2026 concept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Geselecteerd Q3 FY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Realisatie YTD zelfde peildatum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To go (FY − YTD)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Δ geselect. vs Budget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Δ geselect. vs Q2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Δ vs budget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Omzet 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113.431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111.433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106.938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108.437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108.437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108.437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70.484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37.953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-4.995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1.498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D7372F"/>
                          </a:solidFill>
                          <a:latin typeface="Arial"/>
                        </a:rPr>
                        <a:t>█████████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Omzet deelnemingen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5.094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5.321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5.830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5.660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5.660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5.660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3.679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1.981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-170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A02C"/>
                          </a:solidFill>
                          <a:latin typeface="Arial"/>
                        </a:rPr>
                        <a:t>█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Taakstelling omzet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Interne eliminaties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Omzet old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118.525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116.754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112.768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114.097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114.097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114.097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1">
                          <a:solidFill>
                            <a:srgbClr val="3B5B33"/>
                          </a:solidFill>
                          <a:latin typeface="Arial"/>
                        </a:rPr>
                        <a:t>74.163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39.934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0392B"/>
                          </a:solidFill>
                          <a:latin typeface="Arial"/>
                        </a:rPr>
                        <a:t>-4.429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3B7A1E"/>
                          </a:solidFill>
                          <a:latin typeface="Arial"/>
                        </a:rPr>
                        <a:t>1.329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D7372F"/>
                          </a:solidFill>
                          <a:latin typeface="Arial"/>
                        </a:rPr>
                        <a:t>████████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IFRS-eliminaties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Omzet IFRS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118.525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116.754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112.768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114.097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114.097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114.097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1">
                          <a:solidFill>
                            <a:srgbClr val="3B5B33"/>
                          </a:solidFill>
                          <a:latin typeface="Arial"/>
                        </a:rPr>
                        <a:t>74.163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39.934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0392B"/>
                          </a:solidFill>
                          <a:latin typeface="Arial"/>
                        </a:rPr>
                        <a:t>-4.429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3B7A1E"/>
                          </a:solidFill>
                          <a:latin typeface="Arial"/>
                        </a:rPr>
                        <a:t>1.329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D7372F"/>
                          </a:solidFill>
                          <a:latin typeface="Arial"/>
                        </a:rPr>
                        <a:t>████████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Projectresultaat (BOR) 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10.424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10.292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9.994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10.093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10.093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10.093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6.560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3.533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-331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D7372F"/>
                          </a:solidFill>
                          <a:latin typeface="Arial"/>
                        </a:rPr>
                        <a:t>█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Projectresultaat (BOR) deelnemingen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AA02C"/>
                          </a:solidFill>
                          <a:latin typeface="Arial"/>
                        </a:rPr>
                        <a:t>█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Projectresultaten / BOR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10.770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10.653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10.389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10.477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10.477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10.477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1">
                          <a:solidFill>
                            <a:srgbClr val="3B5B33"/>
                          </a:solidFill>
                          <a:latin typeface="Arial"/>
                        </a:rPr>
                        <a:t>6.810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3.667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0392B"/>
                          </a:solidFill>
                          <a:latin typeface="Arial"/>
                        </a:rPr>
                        <a:t>-293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3B7A1E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D7372F"/>
                          </a:solidFill>
                          <a:latin typeface="Arial"/>
                        </a:rPr>
                        <a:t>█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AK-dekking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Fees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Overige resultaten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Taakstelling EBIT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3B5B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EBIT-bijdrage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10.770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10.653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10.389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10.477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10.477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10.477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1">
                          <a:solidFill>
                            <a:srgbClr val="3B5B33"/>
                          </a:solidFill>
                          <a:latin typeface="Arial"/>
                        </a:rPr>
                        <a:t>6.810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3.667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0392B"/>
                          </a:solidFill>
                          <a:latin typeface="Arial"/>
                        </a:rPr>
                        <a:t>-293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3B7A1E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D7372F"/>
                          </a:solidFill>
                          <a:latin typeface="Arial"/>
                        </a:rPr>
                        <a:t>█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BOR 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1">
                          <a:solidFill>
                            <a:srgbClr val="3B5B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0392B"/>
                          </a:solidFill>
                          <a:latin typeface="Arial"/>
                        </a:rPr>
                        <a:t>-0,0%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EBIT 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1">
                          <a:solidFill>
                            <a:srgbClr val="3B5B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0392B"/>
                          </a:solidFill>
                          <a:latin typeface="Arial"/>
                        </a:rPr>
                        <a:t>-0,0%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Projecten en stoplicht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8128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Arial"/>
              </a:rPr>
              <a:t>Rode stoplichten: verkoop 4 · vergunning 2 · netcongestie 1  ·  2 verliesproject(en)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19200"/>
          <a:ext cx="11277600" cy="337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3480"/>
                <a:gridCol w="939800"/>
                <a:gridCol w="939800"/>
                <a:gridCol w="939800"/>
                <a:gridCol w="939800"/>
                <a:gridCol w="751840"/>
                <a:gridCol w="939800"/>
                <a:gridCol w="939800"/>
                <a:gridCol w="751840"/>
                <a:gridCol w="845820"/>
                <a:gridCol w="845820"/>
              </a:tblGrid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Omzet FY Q3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Realisatie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To go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BOR %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Δ vs budget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Orderintake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Verkoop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Vergunning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Netcongestie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Lindehaven, Parkzoom fase 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5.594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3.636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1.958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-559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01-2025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Duinwaard, De Watergaarde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3.720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2.418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1.302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02-2025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3B2F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Veldendam, Stationshof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4.560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2.964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1.596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-456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03-2025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Meerhovenstad, Het Kompas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Deelneming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2.419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1.572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04-2025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3B2F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Zilverdam, Kadezicht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6.720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4.368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2.352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-672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05-2025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Boswaard, De Eiken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6.566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4.268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2.298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06-2026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3B2F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Rietdam, Havenkwartier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6.080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3.952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2.128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-608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07-2026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Lindehaven, De Brink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1.953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1.269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08-2026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Duinwaard, Duinrand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16.632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10.811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5.821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-1.663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09-2026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3B2F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Veldendam, Groene Singel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3.132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2.036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1.096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01-2026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Meerhovenstad, Hofstaete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14.592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9.485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5.107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-1.459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02-2026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3B2F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Zilverdam, De Werf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Deelneming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1.435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933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03-2026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Boswaard, Boskamers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3.780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2.457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1.323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-378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04-2026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Rietdam, Rietoevers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8.770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5.700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3.069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877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05-2026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Lindehaven, Parkzoom fase 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3.300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2.145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1.155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-330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06-2026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Duinwaard, De Lantaarn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4.864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3.162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1.702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07-2026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Veldendam, Spoorpark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11.760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7.644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4.116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-1.176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08-2026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Meerhovenstad, De Boog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Deelneming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1.806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1A2233"/>
                          </a:solidFill>
                          <a:latin typeface="Arial"/>
                        </a:rPr>
                        <a:t>1.174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3B7A1E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09-2026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3B2F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39C12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Projecten en stoplicht (vervolg)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8128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Arial"/>
              </a:rPr>
              <a:t>Rode stoplichten: verkoop 4 · vergunning 2 · netcongestie 1  ·  2 verliesproject(en)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19200"/>
          <a:ext cx="11277600" cy="57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3480"/>
                <a:gridCol w="939800"/>
                <a:gridCol w="939800"/>
                <a:gridCol w="939800"/>
                <a:gridCol w="939800"/>
                <a:gridCol w="751840"/>
                <a:gridCol w="939800"/>
                <a:gridCol w="939800"/>
                <a:gridCol w="751840"/>
                <a:gridCol w="845820"/>
                <a:gridCol w="845820"/>
              </a:tblGrid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Omzet FY Q3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Realisatie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To go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BOR %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Δ vs budget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Orderintake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Verkoop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Vergunning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Netcongestie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Zilverdam, Havenlicht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6.174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1">
                          <a:solidFill>
                            <a:srgbClr val="1A2233"/>
                          </a:solidFill>
                          <a:latin typeface="Arial"/>
                        </a:rPr>
                        <a:t>4.013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2.161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C0392B"/>
                          </a:solidFill>
                          <a:latin typeface="Arial"/>
                        </a:rPr>
                        <a:t>-617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Boswaard, Parkeergebouw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1">
                          <a:solidFill>
                            <a:srgbClr val="1A2233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B7A1E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02-2026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C5CAD3"/>
                          </a:solidFill>
                          <a:latin typeface="Arial"/>
                        </a:rPr>
                        <a:t>○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E9E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D63B2F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Prognoseverloop en realisatie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8128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Arial"/>
              </a:rPr>
              <a:t>Prognoseverloop en brug naar de geselecteerde versie  ·  groen = hoger, rood = lager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70000"/>
            <a:ext cx="5537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Brug Q2 → Q3: grootste projectmutaties (Δ FY-omzet, EUR mln)</a:t>
            </a:r>
          </a:p>
        </p:txBody>
      </p:sp>
      <p:pic>
        <p:nvPicPr>
          <p:cNvPr id="10" name="Picture 9" descr="p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53" y="1524000"/>
            <a:ext cx="4697892" cy="4775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7600" y="1270000"/>
            <a:ext cx="5537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Realisatie (massief) vs nog te gaan (gearceerd) — top 10 projecten, Q3 2026 (vastgesteld) (EUR mln)</a:t>
            </a:r>
          </a:p>
        </p:txBody>
      </p:sp>
      <p:pic>
        <p:nvPicPr>
          <p:cNvPr id="12" name="Picture 11" descr="p-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1524000"/>
            <a:ext cx="5537200" cy="47385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8128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Arial"/>
              </a:rPr>
              <a:t>Omzet 2026–2032 volgens de upload van 30-09-2026, naast het vastgelegde budget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19200"/>
          <a:ext cx="11277597" cy="302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76888"/>
                <a:gridCol w="1392296"/>
                <a:gridCol w="1392296"/>
                <a:gridCol w="1392296"/>
                <a:gridCol w="1392296"/>
                <a:gridCol w="1531525"/>
              </a:tblGrid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Kengetal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2025 realisatie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2026 FY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2028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Totaal vanaf 2026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Omzet 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19.080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108.437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207.768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111.875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428.080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Omzet deelnemingen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864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5.660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11.060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5.956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22.676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Omzet totaal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19.944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114.097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218.828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117.831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450.756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waarvan 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19.944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74.163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BOR totaal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1.559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10.477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18.301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9.854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38.633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BOR 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Budget omzet (vastgelegd)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118.525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227.956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Δ outlook vs budget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-4.429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C0392B"/>
                          </a:solidFill>
                          <a:latin typeface="Arial"/>
                        </a:rPr>
                        <a:t>-9.127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Woningverkopen (aantal)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1.095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waarvan 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Budget woningverkopen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Orderintake (# projecten)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Orderintake PEW-omzet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132.960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337.740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A2233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3F5F9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waarvan 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132.960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337.740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38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Orderintake PEW-BOR 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Budget orderintake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EE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A2233"/>
                          </a:solidFill>
                          <a:latin typeface="Arial"/>
                        </a:rPr>
                        <a:t>n.b.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Outlook in beeld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8128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Arial"/>
              </a:rPr>
              <a:t>Omzet 2026–2032 volgens de upload van 30-09-2026, naast het vastgelegde budget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70000"/>
            <a:ext cx="3683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Omzet per jaar (EUR mln)</a:t>
            </a:r>
          </a:p>
        </p:txBody>
      </p:sp>
      <p:pic>
        <p:nvPicPr>
          <p:cNvPr id="10" name="Picture 9" descr="p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3683000" cy="47301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54500" y="1270000"/>
            <a:ext cx="3683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Woningverkopen per jaar</a:t>
            </a:r>
          </a:p>
        </p:txBody>
      </p:sp>
      <p:pic>
        <p:nvPicPr>
          <p:cNvPr id="12" name="Picture 11" descr="p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0" y="1524000"/>
            <a:ext cx="3683000" cy="47301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51800" y="1270000"/>
            <a:ext cx="3683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Orderintake per jaar (EUR mln)</a:t>
            </a:r>
          </a:p>
        </p:txBody>
      </p:sp>
      <p:pic>
        <p:nvPicPr>
          <p:cNvPr id="14" name="Picture 13" descr="p-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00" y="1524000"/>
            <a:ext cx="3683000" cy="47301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Orderintake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8128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Arial"/>
              </a:rPr>
              <a:t>Orderintake 2026 t/m peildatum: € 337.7 mln  ·  15 projecten (PEW-omzet)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70000"/>
            <a:ext cx="4826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Per jaar en kwartaal (PEW-omzet)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24000"/>
          <a:ext cx="4825995" cy="57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9705"/>
                <a:gridCol w="709705"/>
                <a:gridCol w="709705"/>
                <a:gridCol w="709705"/>
                <a:gridCol w="709705"/>
                <a:gridCol w="851647"/>
                <a:gridCol w="425823"/>
              </a:tblGrid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Jaar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Q4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Totaal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3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60.000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72.960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A2233"/>
                          </a:solidFill>
                          <a:latin typeface="Arial"/>
                        </a:rPr>
                        <a:t>132.960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92.560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96.360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148.820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A2233"/>
                          </a:solidFill>
                          <a:latin typeface="Arial"/>
                        </a:rPr>
                        <a:t>337.740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588000" y="1270000"/>
            <a:ext cx="6146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Recentste orderintake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588000" y="1524000"/>
          <a:ext cx="6146796" cy="2095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084"/>
                <a:gridCol w="409786"/>
                <a:gridCol w="1775742"/>
                <a:gridCol w="751275"/>
                <a:gridCol w="682977"/>
                <a:gridCol w="751275"/>
                <a:gridCol w="546382"/>
                <a:gridCol w="751275"/>
              </a:tblGrid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Jaar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Kw.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Datum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PEW-omzet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BOR %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8100" marR="38100" marT="12700" marB="12700" anchor="ctr">
                    <a:solidFill>
                      <a:srgbClr val="14284B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Meerhovenstad, De Boog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Deelneming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01-09-26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12.040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C0392B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Duinwaard, Duinrand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01-09-26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39.600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Veldendam, Spoorpark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01-08-26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47.040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Lindehaven, De Brink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01-08-26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13.020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C0392B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Duinwaard, De Lantaarn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01-07-26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12.800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Rietdam, Havenkwartier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01-07-26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24.320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Lindehaven, Parkzoom fase 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01-06-26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33.000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Boswaard, De Eiken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01-06-26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17.280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Rietdam, Rietoevers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01-05-26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20.880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Boswaard, Boskamers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Opstal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01-04-26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25.200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3"/>
                          </a:solidFill>
                          <a:latin typeface="Arial"/>
                        </a:rPr>
                        <a:t>gerealiseerd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Woningverkopen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812800"/>
            <a:ext cx="10922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5"/>
                </a:solidFill>
                <a:latin typeface="Arial"/>
              </a:rPr>
              <a:t>Verkocht 2026 t/m peildatum: 193 woningen  ·  jaarverwachting 360  ·  etalage 902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Totaal woningen (aandeelbasis)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1.160 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bruto (afgeleid): 1,268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3733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53733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9933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Verkocht t/m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9933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65 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9933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actual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0266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0266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6466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Verkocht 2026 t/m 30-09-2026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6466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193 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6466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actual (hjr t/m peilmaand)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6800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6800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3000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Jaarverwachting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360 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000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waarvan prognose: 167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3333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3333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533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Cumulatief verkocht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533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258 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533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22% van totaal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39866" y="1219200"/>
            <a:ext cx="1794933" cy="939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39866" y="1219200"/>
            <a:ext cx="1794933" cy="381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6066" y="13208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4284B"/>
                </a:solidFill>
                <a:latin typeface="Arial"/>
              </a:rPr>
              <a:t>Resterende etalage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6066" y="1524000"/>
            <a:ext cx="1642533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4284B"/>
                </a:solidFill>
                <a:latin typeface="Arial"/>
              </a:rPr>
              <a:t>902 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6066" y="1930400"/>
            <a:ext cx="16425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385"/>
                </a:solidFill>
                <a:latin typeface="Arial"/>
              </a:rPr>
              <a:t>totaal − cumulatief actual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286000"/>
            <a:ext cx="5537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Verkopen per kwartaal 2026–2027 (aantal): gerealiseerd massief, prognose gearceerd</a:t>
            </a:r>
          </a:p>
        </p:txBody>
      </p:sp>
      <p:pic>
        <p:nvPicPr>
          <p:cNvPr id="40" name="Picture 39" descr="p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40000"/>
            <a:ext cx="5537200" cy="37152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97600" y="2286000"/>
            <a:ext cx="5537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84B"/>
                </a:solidFill>
                <a:latin typeface="Arial"/>
              </a:rPr>
              <a:t>Jaarverwachting verkopen 2026 per versie (aantal)</a:t>
            </a:r>
          </a:p>
        </p:txBody>
      </p:sp>
      <p:pic>
        <p:nvPicPr>
          <p:cNvPr id="42" name="Picture 41" descr="p-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40000"/>
            <a:ext cx="5537200" cy="3741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1000"/>
            <a:ext cx="76200" cy="38100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355600"/>
            <a:ext cx="109220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284B"/>
                </a:solidFill>
                <a:latin typeface="Arial"/>
              </a:rPr>
              <a:t>Aandachtspunten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532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385"/>
                </a:solidFill>
                <a:latin typeface="Arial"/>
              </a:rPr>
              <a:t>Demo Regio  ·  Q3 2026  ·  peildatum 30-09-2026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553200"/>
            <a:ext cx="558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4284B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70000"/>
            <a:ext cx="11277600" cy="4953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524000"/>
            <a:ext cx="10668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4284B"/>
                </a:solidFill>
                <a:latin typeface="Arial"/>
              </a:rPr>
              <a:t>■  Controle: ✔ geen fouten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4284B"/>
                </a:solidFill>
                <a:latin typeface="Arial"/>
              </a:rPr>
              <a:t>■  Rood stoplicht: Duinwaard, De Watergaarde, Meerhovenstad, Het Kompas, Boswaard, De Eiken, Duinwaard, Duinrand, Meerhovenstad, Hofstaete, Meerhovenstad, De Boog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4284B"/>
                </a:solidFill>
                <a:latin typeface="Arial"/>
              </a:rPr>
              <a:t>■  Verliesprojecten (BOR &lt; 0): Lindehaven, De Brink, Meerhovenstad, De Boog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4284B"/>
                </a:solidFill>
                <a:latin typeface="Arial"/>
              </a:rPr>
              <a:t>■  7 RDFO-posten zijn n.b. (aanvullende invoer ontbreekt).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